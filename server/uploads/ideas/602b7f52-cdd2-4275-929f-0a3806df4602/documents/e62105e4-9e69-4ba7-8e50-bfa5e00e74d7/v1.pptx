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73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09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491C-222F-74BB-B11B-B53B5031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5C364-BD32-7CA6-B94F-370BF9557C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EE012-B2D3-3A31-EF4E-271157A5D6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298FD3-CC4C-4817-7A74-DB14D2D73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796CC8-E2CE-A203-CB32-1B5BD2D63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总结一下，DATAMAGIC通过两大核心创新，成功解决了数据视频制作的效率、质量和可信度问题。它不仅仅是一个工具，更是数据叙事未来的开启者。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展望未来，我们将不断丰富模板库，支持品牌定制，并持续优化算法，让数据讲故事变得前所未有的简单和强大。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8F386-2352-6987-9EBF-C8DE4BE70B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6BC8B-17DD-AC66-5369-9FFD0412F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338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30DBE-0E83-1885-1C75-202B1C46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E69B363-D909-E0F5-EE6E-B40C7A952E39}"/>
              </a:ext>
            </a:extLst>
          </p:cNvPr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C8FE26-46B0-5E9B-03F6-D3B178C8B77B}"/>
              </a:ext>
            </a:extLst>
          </p:cNvPr>
          <p:cNvGrpSpPr/>
          <p:nvPr/>
        </p:nvGrpSpPr>
        <p:grpSpPr>
          <a:xfrm>
            <a:off x="6404214" y="1514572"/>
            <a:ext cx="5314507" cy="4760312"/>
            <a:chOff x="6085577" y="1619628"/>
            <a:chExt cx="5207000" cy="4843760"/>
          </a:xfrm>
        </p:grpSpPr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BF5F6EA8-F646-458E-C0B4-E107FC7B2705}"/>
                </a:ext>
              </a:extLst>
            </p:cNvPr>
            <p:cNvSpPr/>
            <p:nvPr/>
          </p:nvSpPr>
          <p:spPr>
            <a:xfrm>
              <a:off x="6085577" y="1619628"/>
              <a:ext cx="5207000" cy="4843760"/>
            </a:xfrm>
            <a:prstGeom prst="roundRect">
              <a:avLst>
                <a:gd name="adj" fmla="val 7058"/>
              </a:avLst>
            </a:prstGeom>
            <a:solidFill>
              <a:srgbClr val="37415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59D3EC1-821F-5192-5E89-23FD8538A721}"/>
                </a:ext>
              </a:extLst>
            </p:cNvPr>
            <p:cNvSpPr txBox="1"/>
            <p:nvPr/>
          </p:nvSpPr>
          <p:spPr>
            <a:xfrm>
              <a:off x="6476458" y="2003872"/>
              <a:ext cx="4699000" cy="4125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4AD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▍ </a:t>
              </a:r>
              <a:r>
                <a:rPr lang="zh-CN" altLang="en-US" sz="2000" b="1" dirty="0">
                  <a:solidFill>
                    <a:srgbClr val="4ADE80"/>
                  </a:solidFill>
                  <a:latin typeface="Noto Sans SC"/>
                  <a:ea typeface="Noto Sans SC"/>
                </a:rPr>
                <a:t>应用推广 </a:t>
              </a:r>
              <a:endParaRPr lang="en-US" altLang="zh-CN" sz="2000" b="1" dirty="0">
                <a:solidFill>
                  <a:srgbClr val="4ADE80"/>
                </a:solidFill>
                <a:latin typeface="Noto Sans SC"/>
                <a:ea typeface="Noto Sans SC"/>
              </a:endParaRPr>
            </a:p>
            <a:p>
              <a:endParaRPr lang="zh-CN" altLang="en-US" sz="1600" dirty="0">
                <a:solidFill>
                  <a:schemeClr val="bg1"/>
                </a:solidFill>
              </a:endParaRPr>
            </a:p>
            <a:p>
              <a:pPr lvl="1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企业（市场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/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运营）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：快速生成季度报告、产品洞察视频，提升内部沟通效率。</a:t>
              </a:r>
            </a:p>
            <a:p>
              <a:pPr lvl="1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媒体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/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教育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：记者、教师将复杂数据转为易懂的新闻图解或教学视频。</a:t>
              </a:r>
            </a:p>
            <a:p>
              <a:pPr lvl="1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</a:rPr>
                <a:t>科研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/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政府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：向公众发布研究成果或公共数据解读，增强透明度与影响力。</a:t>
              </a:r>
              <a:endParaRPr lang="en-US" altLang="zh-CN" sz="1600" dirty="0">
                <a:solidFill>
                  <a:schemeClr val="bg1"/>
                </a:solidFill>
              </a:endParaRPr>
            </a:p>
            <a:p>
              <a:pPr lvl="1"/>
              <a:endParaRPr lang="zh-CN" altLang="en-US" sz="1600" dirty="0">
                <a:solidFill>
                  <a:schemeClr val="bg1"/>
                </a:solidFill>
              </a:endParaRPr>
            </a:p>
            <a:p>
              <a:r>
                <a:rPr lang="zh-CN" altLang="en-US" sz="2000" b="1" dirty="0">
                  <a:solidFill>
                    <a:srgbClr val="4ADE80"/>
                  </a:solidFill>
                  <a:latin typeface="Noto Sans SC"/>
                  <a:ea typeface="Noto Sans SC"/>
                </a:rPr>
                <a:t>商业模式</a:t>
              </a:r>
              <a:endParaRPr lang="en-US" altLang="zh-CN" sz="2000" b="1" dirty="0">
                <a:solidFill>
                  <a:srgbClr val="4ADE80"/>
                </a:solidFill>
                <a:latin typeface="Noto Sans SC"/>
                <a:ea typeface="Noto Sans SC"/>
              </a:endParaRPr>
            </a:p>
            <a:p>
              <a:endParaRPr lang="zh-CN" altLang="en-US" sz="1600" dirty="0">
                <a:solidFill>
                  <a:schemeClr val="bg1"/>
                </a:solidFill>
              </a:endParaRPr>
            </a:p>
            <a:p>
              <a:pPr lvl="1"/>
              <a:r>
                <a:rPr lang="en-US" altLang="zh-CN" sz="1600" b="1" dirty="0">
                  <a:solidFill>
                    <a:schemeClr val="bg1"/>
                  </a:solidFill>
                </a:rPr>
                <a:t>SaaS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服务</a:t>
              </a:r>
              <a:r>
                <a:rPr lang="zh-CN" altLang="en-US" sz="1600" dirty="0">
                  <a:solidFill>
                    <a:schemeClr val="bg1"/>
                  </a:solidFill>
                </a:rPr>
                <a:t>：面向企业的云端订阅制服务。</a:t>
              </a:r>
              <a:endParaRPr lang="en-US" altLang="zh-CN" sz="1600" dirty="0">
                <a:solidFill>
                  <a:schemeClr val="bg1"/>
                </a:solidFill>
              </a:endParaRPr>
            </a:p>
            <a:p>
              <a:pPr lvl="1"/>
              <a:endParaRPr lang="zh-CN" altLang="en-US" sz="1600" dirty="0">
                <a:solidFill>
                  <a:schemeClr val="bg1"/>
                </a:solidFill>
              </a:endParaRPr>
            </a:p>
            <a:p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757F383-E9FD-8FA7-BC83-388CDAC016EE}"/>
              </a:ext>
            </a:extLst>
          </p:cNvPr>
          <p:cNvGrpSpPr/>
          <p:nvPr/>
        </p:nvGrpSpPr>
        <p:grpSpPr>
          <a:xfrm>
            <a:off x="779781" y="1552054"/>
            <a:ext cx="5044438" cy="4760312"/>
            <a:chOff x="762000" y="3948057"/>
            <a:chExt cx="6223000" cy="2361602"/>
          </a:xfrm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CB115F4A-E569-B1C7-94D8-26C02539702E}"/>
                </a:ext>
              </a:extLst>
            </p:cNvPr>
            <p:cNvSpPr/>
            <p:nvPr/>
          </p:nvSpPr>
          <p:spPr>
            <a:xfrm>
              <a:off x="762000" y="3948057"/>
              <a:ext cx="6223000" cy="2361602"/>
            </a:xfrm>
            <a:prstGeom prst="roundRect">
              <a:avLst>
                <a:gd name="adj" fmla="val 7058"/>
              </a:avLst>
            </a:prstGeom>
            <a:solidFill>
              <a:srgbClr val="37415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F7BF4078-947B-4020-CCA5-80D4A42BC899}"/>
                </a:ext>
              </a:extLst>
            </p:cNvPr>
            <p:cNvSpPr/>
            <p:nvPr/>
          </p:nvSpPr>
          <p:spPr>
            <a:xfrm>
              <a:off x="1016000" y="4127500"/>
              <a:ext cx="4699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400" b="1" i="0" u="none" strike="noStrike" dirty="0">
                  <a:solidFill>
                    <a:srgbClr val="4AD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▍ </a:t>
              </a:r>
              <a:r>
                <a:rPr lang="en-US" sz="2400" b="1" i="0" u="none" strike="noStrike" dirty="0" err="1">
                  <a:solidFill>
                    <a:srgbClr val="4AD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未来展望</a:t>
              </a:r>
              <a:endParaRPr lang="en-US" dirty="0"/>
            </a:p>
          </p:txBody>
        </p:sp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9F54DC00-4E83-5049-BE8E-AAABB1A8DF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" y="4699000"/>
              <a:ext cx="304800" cy="304800"/>
            </a:xfrm>
            <a:prstGeom prst="rect">
              <a:avLst/>
            </a:prstGeom>
          </p:spPr>
        </p:pic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46E552CC-FF4B-2CE4-9DFD-69A1A25D5168}"/>
                </a:ext>
              </a:extLst>
            </p:cNvPr>
            <p:cNvSpPr/>
            <p:nvPr/>
          </p:nvSpPr>
          <p:spPr>
            <a:xfrm>
              <a:off x="1455568" y="5712023"/>
              <a:ext cx="4772212" cy="30777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lvl="1"/>
              <a:r>
                <a:rPr lang="zh-CN" altLang="en-US" sz="1800" b="1" dirty="0">
                  <a:solidFill>
                    <a:schemeClr val="bg1"/>
                  </a:solidFill>
                </a:rPr>
                <a:t>场景拓展</a:t>
              </a:r>
              <a:r>
                <a:rPr lang="zh-CN" altLang="en-US" sz="1800" dirty="0">
                  <a:solidFill>
                    <a:schemeClr val="bg1"/>
                  </a:solidFill>
                </a:rPr>
                <a:t>：实现从“单向观看”到“</a:t>
              </a:r>
              <a:r>
                <a:rPr lang="zh-CN" altLang="en-US" sz="1800" b="1" dirty="0">
                  <a:solidFill>
                    <a:schemeClr val="bg1"/>
                  </a:solidFill>
                </a:rPr>
                <a:t>交互式数据界面</a:t>
              </a:r>
              <a:r>
                <a:rPr lang="zh-CN" altLang="en-US" sz="1800" dirty="0">
                  <a:solidFill>
                    <a:schemeClr val="bg1"/>
                  </a:solidFill>
                </a:rPr>
                <a:t>”的转变。</a:t>
              </a:r>
            </a:p>
          </p:txBody>
        </p:sp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2BCAFE1E-CD53-D0BF-8AA5-5EB72D11B6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00" y="5207000"/>
              <a:ext cx="304800" cy="304800"/>
            </a:xfrm>
            <a:prstGeom prst="rect">
              <a:avLst/>
            </a:prstGeom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A36C9316-ACA6-F357-9F56-B95706E3A7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5715000"/>
              <a:ext cx="304800" cy="3048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5FB2AB0-8231-EE77-80B1-3E41662BD3C2}"/>
                </a:ext>
              </a:extLst>
            </p:cNvPr>
            <p:cNvSpPr txBox="1"/>
            <p:nvPr/>
          </p:nvSpPr>
          <p:spPr>
            <a:xfrm>
              <a:off x="1399541" y="4696022"/>
              <a:ext cx="4698998" cy="349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</a:rPr>
                <a:t>算法深化</a:t>
              </a:r>
              <a:r>
                <a:rPr lang="zh-CN" altLang="en-US" sz="1800" dirty="0">
                  <a:solidFill>
                    <a:schemeClr val="bg1"/>
                  </a:solidFill>
                </a:rPr>
                <a:t>：引入更多</a:t>
              </a:r>
              <a:r>
                <a:rPr lang="zh-CN" altLang="en-US" sz="1800" b="1" dirty="0">
                  <a:solidFill>
                    <a:schemeClr val="bg1"/>
                  </a:solidFill>
                </a:rPr>
                <a:t>领域知识图谱</a:t>
              </a:r>
              <a:r>
                <a:rPr lang="zh-CN" altLang="en-US" sz="1800" dirty="0">
                  <a:solidFill>
                    <a:schemeClr val="bg1"/>
                  </a:solidFill>
                </a:rPr>
                <a:t>，提升叙事规划的深度与智能性。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537E146-6BE0-ABCC-2F8F-2868CF5516AC}"/>
                </a:ext>
              </a:extLst>
            </p:cNvPr>
            <p:cNvSpPr txBox="1"/>
            <p:nvPr/>
          </p:nvSpPr>
          <p:spPr>
            <a:xfrm>
              <a:off x="1399539" y="5238212"/>
              <a:ext cx="4698999" cy="349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</a:rPr>
                <a:t>功能扩展</a:t>
              </a:r>
              <a:r>
                <a:rPr lang="zh-CN" altLang="en-US" sz="1800" dirty="0">
                  <a:solidFill>
                    <a:schemeClr val="bg1"/>
                  </a:solidFill>
                </a:rPr>
                <a:t>：开发</a:t>
              </a:r>
              <a:r>
                <a:rPr lang="zh-CN" altLang="en-US" sz="1800" b="1" dirty="0">
                  <a:solidFill>
                    <a:schemeClr val="bg1"/>
                  </a:solidFill>
                </a:rPr>
                <a:t>移动端应用</a:t>
              </a:r>
              <a:r>
                <a:rPr lang="zh-CN" altLang="en-US" sz="1800" dirty="0">
                  <a:solidFill>
                    <a:schemeClr val="bg1"/>
                  </a:solidFill>
                </a:rPr>
                <a:t>，实现随时随地的数据视频创作。</a:t>
              </a:r>
              <a:endParaRPr lang="en-US" altLang="zh-CN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66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146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Noto Sans SC</vt:lpstr>
      <vt:lpstr>Arial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Ocean Kun Hei OU</cp:lastModifiedBy>
  <cp:revision>10</cp:revision>
  <dcterms:modified xsi:type="dcterms:W3CDTF">2026-04-23T14:48:04Z</dcterms:modified>
</cp:coreProperties>
</file>